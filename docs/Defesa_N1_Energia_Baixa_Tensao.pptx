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8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731520"/>
            <a:ext cx="109728" cy="10972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Shape 1"/>
          <p:cNvSpPr/>
          <p:nvPr/>
        </p:nvSpPr>
        <p:spPr>
          <a:xfrm>
            <a:off x="1188720" y="731520"/>
            <a:ext cx="109728" cy="109728"/>
          </a:xfrm>
          <a:prstGeom prst="ellipse">
            <a:avLst/>
          </a:prstGeom>
          <a:solidFill>
            <a:srgbClr val="2FBFA0"/>
          </a:solidFill>
          <a:ln/>
        </p:spPr>
      </p:sp>
      <p:sp>
        <p:nvSpPr>
          <p:cNvPr id="4" name="Shape 2"/>
          <p:cNvSpPr/>
          <p:nvPr/>
        </p:nvSpPr>
        <p:spPr>
          <a:xfrm>
            <a:off x="1554480" y="731520"/>
            <a:ext cx="109728" cy="10972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2344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B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DAS COISAS  ·  AULA 07  ·  MQTT, JSON E COMANDOS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69164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4F7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Monitoramento e Controle de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4F7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Energia em Baixa Tensão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2461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BB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Protótipo IoT com ESP32, sensor INA219, broker MQTT próprio e dashboard de controle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2960" y="3977640"/>
            <a:ext cx="10515600" cy="1965960"/>
          </a:xfrm>
          <a:prstGeom prst="roundRect">
            <a:avLst>
              <a:gd name="adj" fmla="val 3721"/>
            </a:avLst>
          </a:prstGeom>
          <a:solidFill>
            <a:srgbClr val="1B2328"/>
          </a:solidFill>
          <a:ln w="12700">
            <a:solidFill>
              <a:srgbClr val="313E4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143000" y="4160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143000" y="4672584"/>
            <a:ext cx="109728" cy="109728"/>
          </a:xfrm>
          <a:prstGeom prst="ellipse">
            <a:avLst/>
          </a:prstGeom>
          <a:solidFill>
            <a:srgbClr val="2FBFA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399032" y="454456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4F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William Vodzinsky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434840" y="4672584"/>
            <a:ext cx="109728" cy="109728"/>
          </a:xfrm>
          <a:prstGeom prst="ellipse">
            <a:avLst/>
          </a:prstGeom>
          <a:solidFill>
            <a:srgbClr val="2FBFA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690872" y="454456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4F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João Francisco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726680" y="4672584"/>
            <a:ext cx="109728" cy="109728"/>
          </a:xfrm>
          <a:prstGeom prst="ellipse">
            <a:avLst/>
          </a:prstGeom>
          <a:solidFill>
            <a:srgbClr val="2FBFA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982712" y="454456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4F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Iago Koch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1143000" y="5239512"/>
            <a:ext cx="109728" cy="109728"/>
          </a:xfrm>
          <a:prstGeom prst="ellipse">
            <a:avLst/>
          </a:prstGeom>
          <a:solidFill>
            <a:srgbClr val="2FBFA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399032" y="5111496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4F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Pedro Israel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434840" y="5239512"/>
            <a:ext cx="109728" cy="109728"/>
          </a:xfrm>
          <a:prstGeom prst="ellipse">
            <a:avLst/>
          </a:prstGeom>
          <a:solidFill>
            <a:srgbClr val="2FBFA0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690872" y="5111496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4F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Caio Rodrigues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7726680" y="5239512"/>
            <a:ext cx="109728" cy="109728"/>
          </a:xfrm>
          <a:prstGeom prst="ellipse">
            <a:avLst/>
          </a:prstGeom>
          <a:solidFill>
            <a:srgbClr val="2FBFA0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982712" y="5111496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4F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Bruno Costa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822960" y="6263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BB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Edson Vaz Lopes  ·  Encontro 9  ·  22/09/2026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218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Problema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este projeto existe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429000" cy="4251960"/>
          </a:xfrm>
          <a:prstGeom prst="roundRect">
            <a:avLst>
              <a:gd name="adj" fmla="val 2133"/>
            </a:avLst>
          </a:prstGeom>
          <a:solidFill>
            <a:srgbClr val="F7F9F8"/>
          </a:solidFill>
          <a:ln w="12700">
            <a:solidFill>
              <a:srgbClr val="DCE4E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965960"/>
            <a:ext cx="1371600" cy="384048"/>
          </a:xfrm>
          <a:prstGeom prst="roundRect">
            <a:avLst>
              <a:gd name="adj" fmla="val 14286"/>
            </a:avLst>
          </a:prstGeom>
          <a:solidFill>
            <a:srgbClr val="1E5F5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196596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4F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RESOLVE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267712"/>
            <a:ext cx="288036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2A3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Monitorar e controlar remotamente uma carga elétrica em baixa tensão — medindo tensão, corrente e potência reais, e permitindo ligar/desligar a carga pela rede, com corte automático quando a tensão sai da faixa segura.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389120" y="1691640"/>
            <a:ext cx="3429000" cy="4251960"/>
          </a:xfrm>
          <a:prstGeom prst="roundRect">
            <a:avLst>
              <a:gd name="adj" fmla="val 2133"/>
            </a:avLst>
          </a:prstGeom>
          <a:solidFill>
            <a:srgbClr val="F7F9F8"/>
          </a:solidFill>
          <a:ln w="12700">
            <a:solidFill>
              <a:srgbClr val="DCE4E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63440" y="1965960"/>
            <a:ext cx="1371600" cy="384048"/>
          </a:xfrm>
          <a:prstGeom prst="roundRect">
            <a:avLst>
              <a:gd name="adj" fmla="val 14286"/>
            </a:avLst>
          </a:prstGeom>
          <a:solidFill>
            <a:srgbClr val="1E4A6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663440" y="196596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4F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QUEM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4663440" y="2267712"/>
            <a:ext cx="288036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2A3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Laboratórios, bancadas de teste e pequenos projetos elétricos/eletrônicos que precisam acompanhar uma carga de baixa tensão sem depender de instrumentação cara ou leitura manual constante.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138160" y="1691640"/>
            <a:ext cx="3429000" cy="4251960"/>
          </a:xfrm>
          <a:prstGeom prst="roundRect">
            <a:avLst>
              <a:gd name="adj" fmla="val 2133"/>
            </a:avLst>
          </a:prstGeom>
          <a:solidFill>
            <a:srgbClr val="F7F9F8"/>
          </a:solidFill>
          <a:ln w="12700">
            <a:solidFill>
              <a:srgbClr val="DCE4E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412480" y="1965960"/>
            <a:ext cx="1371600" cy="384048"/>
          </a:xfrm>
          <a:prstGeom prst="roundRect">
            <a:avLst>
              <a:gd name="adj" fmla="val 14286"/>
            </a:avLst>
          </a:prstGeom>
          <a:solidFill>
            <a:srgbClr val="6B4A1E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412480" y="196596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4F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QUÊ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8412480" y="2267712"/>
            <a:ext cx="288036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2A3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Ler um multímetro manualmente não escala e não reage sozinho a uma sobretensão. Um sistema IoT permite acompanhar os valores e agir em tempo real, de qualquer ponto da rede local — inclusive desligando a carga automaticamente.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B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Defesa N1 — Internet das Coisas — Energia em Baixa Tensão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B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18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7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Arquitetura do sistema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BB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geral do fluxo — do sensor ao comando no atuador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27532" y="1600200"/>
            <a:ext cx="1572768" cy="1051560"/>
          </a:xfrm>
          <a:prstGeom prst="roundRect">
            <a:avLst>
              <a:gd name="adj" fmla="val 7826"/>
            </a:avLst>
          </a:prstGeom>
          <a:solidFill>
            <a:srgbClr val="1B2328"/>
          </a:solidFill>
          <a:ln w="15875">
            <a:solidFill>
              <a:srgbClr val="1E5F5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00684" y="1764792"/>
            <a:ext cx="1426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F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00684" y="2167128"/>
            <a:ext cx="1426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INA219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2400300" y="1600200"/>
            <a:ext cx="21945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FB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619756" y="1600200"/>
            <a:ext cx="1572768" cy="1051560"/>
          </a:xfrm>
          <a:prstGeom prst="roundRect">
            <a:avLst>
              <a:gd name="adj" fmla="val 7826"/>
            </a:avLst>
          </a:prstGeom>
          <a:solidFill>
            <a:srgbClr val="222C30"/>
          </a:solidFill>
          <a:ln w="15875">
            <a:solidFill>
              <a:srgbClr val="1E5F5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692908" y="1764792"/>
            <a:ext cx="1426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F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2692908" y="2167128"/>
            <a:ext cx="1426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Firmware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192524" y="1600200"/>
            <a:ext cx="21945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FB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411980" y="1600200"/>
            <a:ext cx="1572768" cy="1051560"/>
          </a:xfrm>
          <a:prstGeom prst="roundRect">
            <a:avLst>
              <a:gd name="adj" fmla="val 7826"/>
            </a:avLst>
          </a:prstGeom>
          <a:solidFill>
            <a:srgbClr val="1B2328"/>
          </a:solidFill>
          <a:ln w="15875">
            <a:solidFill>
              <a:srgbClr val="1E5F5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485132" y="1764792"/>
            <a:ext cx="1426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F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Wi-Fi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485132" y="2167128"/>
            <a:ext cx="1426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Conectividade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5984748" y="1600200"/>
            <a:ext cx="21945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FB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204204" y="1600200"/>
            <a:ext cx="1572768" cy="1051560"/>
          </a:xfrm>
          <a:prstGeom prst="roundRect">
            <a:avLst>
              <a:gd name="adj" fmla="val 7826"/>
            </a:avLst>
          </a:prstGeom>
          <a:solidFill>
            <a:srgbClr val="222C30"/>
          </a:solidFill>
          <a:ln w="15875">
            <a:solidFill>
              <a:srgbClr val="1E5F5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77356" y="1764792"/>
            <a:ext cx="1426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F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277356" y="2167128"/>
            <a:ext cx="1426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 próprio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7776972" y="1600200"/>
            <a:ext cx="21945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FB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996428" y="1600200"/>
            <a:ext cx="1572768" cy="1051560"/>
          </a:xfrm>
          <a:prstGeom prst="roundRect">
            <a:avLst>
              <a:gd name="adj" fmla="val 7826"/>
            </a:avLst>
          </a:prstGeom>
          <a:solidFill>
            <a:srgbClr val="1B2328"/>
          </a:solidFill>
          <a:ln w="15875">
            <a:solidFill>
              <a:srgbClr val="1E5F5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069580" y="1764792"/>
            <a:ext cx="1426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F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8069580" y="2167128"/>
            <a:ext cx="1426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web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9569196" y="1600200"/>
            <a:ext cx="21945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FB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9788652" y="1600200"/>
            <a:ext cx="1572768" cy="1051560"/>
          </a:xfrm>
          <a:prstGeom prst="roundRect">
            <a:avLst>
              <a:gd name="adj" fmla="val 7826"/>
            </a:avLst>
          </a:prstGeom>
          <a:solidFill>
            <a:srgbClr val="222C30"/>
          </a:solidFill>
          <a:ln w="15875">
            <a:solidFill>
              <a:srgbClr val="1E5F5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861804" y="1764792"/>
            <a:ext cx="1426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F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Atuador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9861804" y="2167128"/>
            <a:ext cx="1426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 / carga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40080" y="3063240"/>
            <a:ext cx="5669280" cy="3200400"/>
          </a:xfrm>
          <a:prstGeom prst="roundRect">
            <a:avLst>
              <a:gd name="adj" fmla="val 2286"/>
            </a:avLst>
          </a:prstGeom>
          <a:solidFill>
            <a:srgbClr val="1B2328"/>
          </a:solidFill>
          <a:ln w="12700">
            <a:solidFill>
              <a:srgbClr val="313E4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14400" y="3218688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2FB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TÓPICOS MQTT REAIS DO PROJETO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914400" y="3584448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A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energia/esp32_id/telemetria/tensao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914400" y="3794760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B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telemetria — tensão real (V)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914400" y="3991356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A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energia/esp32_id/telemetria/corrente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914400" y="4201668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B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telemetria — corrente real (A)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914400" y="4398264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A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energia/esp32_id/telemetria/potencia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914400" y="4608576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B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telemetria — potência (W)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914400" y="4805172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A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energia/esp32_id/comando/carga</a:t>
            </a:r>
            <a:endParaRPr lang="en-US" sz="1050" dirty="0"/>
          </a:p>
        </p:txBody>
      </p:sp>
      <p:sp>
        <p:nvSpPr>
          <p:cNvPr id="36" name="Text 34"/>
          <p:cNvSpPr txBox="1"/>
          <p:nvPr/>
        </p:nvSpPr>
        <p:spPr>
          <a:xfrm>
            <a:off x="914400" y="5015484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B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comando — ON / OFF</a:t>
            </a:r>
            <a:endParaRPr lang="en-US" sz="900" dirty="0"/>
          </a:p>
        </p:txBody>
      </p:sp>
      <p:sp>
        <p:nvSpPr>
          <p:cNvPr id="37" name="Text 35"/>
          <p:cNvSpPr txBox="1"/>
          <p:nvPr/>
        </p:nvSpPr>
        <p:spPr>
          <a:xfrm>
            <a:off x="914400" y="5212080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A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energia/esp32_id/confirmacao/carga</a:t>
            </a:r>
            <a:endParaRPr lang="en-US" sz="1050" dirty="0"/>
          </a:p>
        </p:txBody>
      </p:sp>
      <p:sp>
        <p:nvSpPr>
          <p:cNvPr id="38" name="Text 36"/>
          <p:cNvSpPr txBox="1"/>
          <p:nvPr/>
        </p:nvSpPr>
        <p:spPr>
          <a:xfrm>
            <a:off x="914400" y="5422392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B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confirmação do estado aplicado</a:t>
            </a:r>
            <a:endParaRPr lang="en-US" sz="900" dirty="0"/>
          </a:p>
        </p:txBody>
      </p:sp>
      <p:sp>
        <p:nvSpPr>
          <p:cNvPr id="39" name="Text 37"/>
          <p:cNvSpPr txBox="1"/>
          <p:nvPr/>
        </p:nvSpPr>
        <p:spPr>
          <a:xfrm>
            <a:off x="914400" y="5618988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A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energia/esp32_id/alerta</a:t>
            </a:r>
            <a:endParaRPr lang="en-US" sz="1050" dirty="0"/>
          </a:p>
        </p:txBody>
      </p:sp>
      <p:sp>
        <p:nvSpPr>
          <p:cNvPr id="40" name="Text 38"/>
          <p:cNvSpPr txBox="1"/>
          <p:nvPr/>
        </p:nvSpPr>
        <p:spPr>
          <a:xfrm>
            <a:off x="914400" y="5829300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B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— NORMAL / ATENÇÃO / CRÍTICO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492240" y="3063240"/>
            <a:ext cx="5074920" cy="3200400"/>
          </a:xfrm>
          <a:prstGeom prst="roundRect">
            <a:avLst>
              <a:gd name="adj" fmla="val 2286"/>
            </a:avLst>
          </a:prstGeom>
          <a:solidFill>
            <a:srgbClr val="1B2328"/>
          </a:solidFill>
          <a:ln w="12700">
            <a:solidFill>
              <a:srgbClr val="313E42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6766560" y="3218688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60" kern="0" dirty="0">
                <a:solidFill>
                  <a:srgbClr val="2FB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ELOS DA ARQUITETURA JÁ IMPLEMENTADOS E TESTADOS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6766560" y="3831336"/>
            <a:ext cx="100584" cy="10058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6995160" y="3712464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F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Sensoriamento real de tensão/corrente (INA219)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766560" y="4137660"/>
            <a:ext cx="100584" cy="10058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6995160" y="4018788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F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Conectividade Wi-Fi do ESP32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6766560" y="4443984"/>
            <a:ext cx="100584" cy="10058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6995160" y="4325112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F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Protocolo padrão de IoT (MQTT)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6766560" y="4750308"/>
            <a:ext cx="100584" cy="10058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6995160" y="4631436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F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 MQTT próprio (Mosquitto)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6766560" y="5056632"/>
            <a:ext cx="100584" cy="10058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52" name="Text 50"/>
          <p:cNvSpPr txBox="1"/>
          <p:nvPr/>
        </p:nvSpPr>
        <p:spPr>
          <a:xfrm>
            <a:off x="6995160" y="4937760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F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Comando remoto da carga (ON/OFF)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6766560" y="5362956"/>
            <a:ext cx="100584" cy="10058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54" name="Text 52"/>
          <p:cNvSpPr txBox="1"/>
          <p:nvPr/>
        </p:nvSpPr>
        <p:spPr>
          <a:xfrm>
            <a:off x="6995160" y="5244084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F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Confirmação do estado aplicado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6766560" y="5669280"/>
            <a:ext cx="100584" cy="10058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56" name="Text 54"/>
          <p:cNvSpPr txBox="1"/>
          <p:nvPr/>
        </p:nvSpPr>
        <p:spPr>
          <a:xfrm>
            <a:off x="6995160" y="5550408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F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de controle (dashboard web)</a:t>
            </a:r>
            <a:endParaRPr lang="en-US" sz="1100" dirty="0"/>
          </a:p>
        </p:txBody>
      </p:sp>
      <p:sp>
        <p:nvSpPr>
          <p:cNvPr id="57" name="Text 55"/>
          <p:cNvSpPr txBox="1"/>
          <p:nvPr/>
        </p:nvSpPr>
        <p:spPr>
          <a:xfrm>
            <a:off x="6766560" y="598474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BB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Contagem exata a confirmar com o checklist oficial (Detalhamento N1, seção 3.4).</a:t>
            </a:r>
            <a:endParaRPr lang="en-US" sz="900" dirty="0"/>
          </a:p>
        </p:txBody>
      </p:sp>
      <p:sp>
        <p:nvSpPr>
          <p:cNvPr id="58" name="Text 56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B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Defesa N1 — Internet das Coisas — Energia em Baixa Tensão</a:t>
            </a:r>
            <a:endParaRPr lang="en-US" sz="900" dirty="0"/>
          </a:p>
        </p:txBody>
      </p:sp>
      <p:sp>
        <p:nvSpPr>
          <p:cNvPr id="59" name="Text 57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B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218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Protótipo montado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atual da bancada — ESP32, INA219 e LED de carga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85216" y="1545336"/>
            <a:ext cx="4041648" cy="4453128"/>
          </a:xfrm>
          <a:prstGeom prst="roundRect">
            <a:avLst>
              <a:gd name="adj" fmla="val 2262"/>
            </a:avLst>
          </a:prstGeom>
          <a:solidFill>
            <a:srgbClr val="12181B"/>
          </a:solidFill>
          <a:ln/>
        </p:spPr>
      </p:sp>
      <p:pic>
        <p:nvPicPr>
          <p:cNvPr id="5" name="Image 0" descr="/home/claude/deck/prototipo.jpe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600200"/>
            <a:ext cx="3931920" cy="43434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892040" y="1600200"/>
            <a:ext cx="3246120" cy="4343400"/>
          </a:xfrm>
          <a:prstGeom prst="roundRect">
            <a:avLst>
              <a:gd name="adj" fmla="val 2254"/>
            </a:avLst>
          </a:prstGeom>
          <a:solidFill>
            <a:srgbClr val="F1F8F5"/>
          </a:solidFill>
          <a:ln w="12700">
            <a:solidFill>
              <a:srgbClr val="CBE6D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166360" y="1810512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E5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JÁ FUNCIONA HOJE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166360" y="2304288"/>
            <a:ext cx="100584" cy="100584"/>
          </a:xfrm>
          <a:prstGeom prst="ellipse">
            <a:avLst/>
          </a:prstGeom>
          <a:solidFill>
            <a:srgbClr val="2FBFA0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394960" y="21945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0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conectado ao Wi-Fi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166360" y="2834640"/>
            <a:ext cx="100584" cy="100584"/>
          </a:xfrm>
          <a:prstGeom prst="ellipse">
            <a:avLst/>
          </a:prstGeom>
          <a:solidFill>
            <a:srgbClr val="2FBFA0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5394960" y="272491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0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INA219 medindo tensão e corrente reais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5166360" y="3364992"/>
            <a:ext cx="100584" cy="100584"/>
          </a:xfrm>
          <a:prstGeom prst="ellipse">
            <a:avLst/>
          </a:prstGeom>
          <a:solidFill>
            <a:srgbClr val="2FBFA0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394960" y="3255264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0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 MQTT próprio (Mosquitto) rodando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5166360" y="3895344"/>
            <a:ext cx="100584" cy="100584"/>
          </a:xfrm>
          <a:prstGeom prst="ellipse">
            <a:avLst/>
          </a:prstGeom>
          <a:solidFill>
            <a:srgbClr val="2FBFA0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5394960" y="3785616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0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Telemetria publicada em tempo real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166360" y="4425696"/>
            <a:ext cx="100584" cy="100584"/>
          </a:xfrm>
          <a:prstGeom prst="ellipse">
            <a:avLst/>
          </a:prstGeom>
          <a:solidFill>
            <a:srgbClr val="2FBFA0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5394960" y="431596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0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Comando ON/OFF com confirmação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5166360" y="4956048"/>
            <a:ext cx="100584" cy="100584"/>
          </a:xfrm>
          <a:prstGeom prst="ellipse">
            <a:avLst/>
          </a:prstGeom>
          <a:solidFill>
            <a:srgbClr val="2FBFA0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5394960" y="48463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0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web de controle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8366760" y="1600200"/>
            <a:ext cx="3200400" cy="4343400"/>
          </a:xfrm>
          <a:prstGeom prst="roundRect">
            <a:avLst>
              <a:gd name="adj" fmla="val 2286"/>
            </a:avLst>
          </a:prstGeom>
          <a:solidFill>
            <a:srgbClr val="FBF3E7"/>
          </a:solidFill>
          <a:ln w="12700">
            <a:solidFill>
              <a:srgbClr val="F0D9AE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641080" y="181051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8A5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AINDA FALTA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8641080" y="2304288"/>
            <a:ext cx="100584" cy="10058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8869680" y="219456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0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Calibrar os limites reais de alerta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8641080" y="2834640"/>
            <a:ext cx="100584" cy="10058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8869680" y="2724912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0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Resolver instabilidade no upload/gravação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8641080" y="3364992"/>
            <a:ext cx="100584" cy="10058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8869680" y="3255264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0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Fechar o diagrama final de arquitetura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8641080" y="3895344"/>
            <a:ext cx="100584" cy="10058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8869680" y="3785616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0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 fotos/vídeo formais de entrega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8641080" y="4425696"/>
            <a:ext cx="100584" cy="10058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8869680" y="4315968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0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 de estabilidade prolongada</a:t>
            </a:r>
            <a:endParaRPr lang="en-US" sz="1150" dirty="0"/>
          </a:p>
        </p:txBody>
      </p:sp>
      <p:sp>
        <p:nvSpPr>
          <p:cNvPr id="32" name="Text 29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B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Defesa N1 — Internet das Coisas — Energia em Baixa Tensão</a:t>
            </a:r>
            <a:endParaRPr lang="en-US" sz="900" dirty="0"/>
          </a:p>
        </p:txBody>
      </p:sp>
      <p:sp>
        <p:nvSpPr>
          <p:cNvPr id="33" name="Text 30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B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2026-09-22T18:12:15Z</dcterms:created>
  <dcterms:modified xsi:type="dcterms:W3CDTF">2026-09-22T18:12:15Z</dcterms:modified>
</cp:coreProperties>
</file>